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6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1152" autoAdjust="0"/>
  </p:normalViewPr>
  <p:slideViewPr>
    <p:cSldViewPr snapToGrid="0">
      <p:cViewPr varScale="1">
        <p:scale>
          <a:sx n="57" d="100"/>
          <a:sy n="57" d="100"/>
        </p:scale>
        <p:origin x="14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6C266-FE66-4646-9947-50AE4558E224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265B5-C822-4236-AB05-46018D6D1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132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교재 </a:t>
            </a:r>
            <a:r>
              <a:rPr lang="en-US" altLang="ko-KR" dirty="0"/>
              <a:t>316</a:t>
            </a:r>
            <a:r>
              <a:rPr lang="ko-KR" altLang="en-US" dirty="0"/>
              <a:t>쪽 그림 </a:t>
            </a:r>
            <a:r>
              <a:rPr lang="en-US" altLang="ko-KR" dirty="0"/>
              <a:t>9-1 </a:t>
            </a:r>
            <a:r>
              <a:rPr lang="ko-KR" altLang="en-US" dirty="0"/>
              <a:t>참고</a:t>
            </a:r>
            <a:r>
              <a:rPr lang="en-US" altLang="ko-KR" dirty="0"/>
              <a:t> // </a:t>
            </a:r>
            <a:r>
              <a:rPr lang="ko-KR" altLang="en-US" dirty="0"/>
              <a:t>희망 기기 입고 처리와 신규 기기 입고 처리가 중복 되는 기능이라고 생각되어 병합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/>
              <a:t>관리자 주요 </a:t>
            </a:r>
            <a:r>
              <a:rPr lang="ko-KR" altLang="en-US" dirty="0"/>
              <a:t>기능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265B5-C822-4236-AB05-46018D6D19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9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51B6-10B0-B881-BB21-147D3DAC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A7379A-E373-CD5E-603B-96C8B1BE6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0E904B-7D5D-196D-7A7E-FD8235BB2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5B20D8-3D0B-7B66-F436-661F12880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265B5-C822-4236-AB05-46018D6D19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24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F711E-910C-BF66-6B25-290A50434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EFA8FF-EF96-670D-945E-52E7F8F78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9831C-806F-8302-9A01-2E43EBE0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13CEB9-97B5-4C5E-A2D8-7DB404655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299B58-526F-2727-6ABA-C7B4B4C7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75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6AF12-B085-DC30-053A-7D502CB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F038CA-54CE-AF9F-23BB-1D96BB693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ABEB44-0B3F-0A1B-ABA5-9D7DB08C9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99B099-7AAF-EFF1-F5F8-B76CB1093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E372F-84DB-AB5F-89A5-571B66E5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04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17429-F840-E26F-24C5-F6D0C919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686B76-3877-DB45-B8FE-5D6EF8769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11B47-E4D7-36F3-4B5C-FF6A5620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DCAA94-43F6-7434-4014-4AB4ADF9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082DD-5EDA-AFCC-7DF2-B4CE3883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1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26D67-2AD6-8EA5-DB7F-C1B112CB6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DE88F-F670-6E7B-F04B-5DAAE75B2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109A95-2949-7823-A831-F207C654E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326C13-BB28-0DA0-EC20-BE5B303D3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15129E-B914-4DE6-7954-8A12428C2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DC2BEC-8915-92D1-FCF5-60BCAB35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30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74903-6F4A-532D-5C65-43C650514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85B812-76B4-9678-6947-BD2A6DA11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53B004-61D3-1F6A-CBCD-6E647835B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BE7347-318D-4212-FDB0-5D184CD69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F0076A-37BB-846D-539E-57337E441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38D648A-C45E-C101-775F-789DDACC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60C0AE-0F44-FB4A-0FE8-DE7E1CFE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AD92BD-D9DD-5921-3FC3-CAD7C061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598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485CF-AC98-9C3C-EE02-F695A8B4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5D71A7-9003-8128-BA1C-8748C980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1CA957-8C1B-CBAC-08F1-8F57A7D8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5B2DA6-D1AD-395E-458D-36B82A30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656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E0733F-BACE-35F3-D8BE-5FF1B8F0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A76FC0-02AC-11F2-8628-5C800FEC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6F13C2-C249-7F19-6314-E3B0B4D87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988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D73E01-EF11-C1DF-BAF3-2D7EDC56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EF176-9266-A756-6739-B95C0891E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BCDA4B-813F-EA8D-557C-A16DA72C0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942140-15C0-4784-3FC2-70F33146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E9A94B-ABCB-0585-A649-7F449084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57ECA0-0BDF-FE9D-1080-7F980FA22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767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3F8E4-FB9A-66B7-9281-E6D2176A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122CCD-DBEA-0652-542B-C4990A9670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D5E2E-2276-0D83-9BE7-D32C6E432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145984-38EA-0E6A-0AFF-8887C277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5D5345-17BF-BB7A-70F6-5C282B036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C3AE07-D728-735A-0CC9-0E04D506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88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F00E5-BEFD-5CD5-35BE-024DFC391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D82D9C-8254-9330-51C5-3B9F912A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647984-3656-C22D-AEE3-FFB5E86FA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B366E1-000B-90CE-A0F3-05986AA7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E206FF-25CA-70D6-D37F-C3F83C0F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8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89B32C-AA65-FA9F-A3F6-85AC0D4FB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1904D6-77DC-D8BC-4720-B90EA1119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36FFFA-F80B-3231-399F-01DA2C89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7E822A-A016-050E-E64E-886F1DC3D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6B5FC6-E99C-998E-55A7-D58A5E62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94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286CAD-65EC-F629-0126-A520A763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B57AB3-4EC1-D54C-AABD-583425649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706F88-F65B-E817-493B-81C0AACE4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81D0E-7B48-4566-A15F-1777BA2E8E4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44B32E-E2AC-98A3-8D1A-13C1877C5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4D255-67D3-D38F-09D6-30E7A7718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0F50A-ABF7-478E-B876-7B2344E601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73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8206B52-22B7-E7E8-23A4-4B761350E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게임기 대여 서비스 개요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2454F3B-3C32-C597-09C8-6C37DC646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524000"/>
            <a:ext cx="11243733" cy="4652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dirty="0"/>
              <a:t>“</a:t>
            </a:r>
            <a:r>
              <a:rPr lang="ko-KR" altLang="en-US" dirty="0"/>
              <a:t>누구나 게임을 쉽게 즐기고</a:t>
            </a:r>
            <a:r>
              <a:rPr lang="en-US" altLang="ko-KR" dirty="0"/>
              <a:t>, </a:t>
            </a:r>
            <a:r>
              <a:rPr lang="ko-KR" altLang="en-US" dirty="0"/>
              <a:t>다양하게 체험하고 그 경험을 공유하며</a:t>
            </a:r>
            <a:r>
              <a:rPr lang="en-US" altLang="ko-KR" dirty="0"/>
              <a:t>, </a:t>
            </a:r>
            <a:r>
              <a:rPr lang="ko-KR" altLang="en-US" dirty="0"/>
              <a:t>신뢰 속에서 즐길 수 있는 게임 문화 플랫폼</a:t>
            </a:r>
            <a:r>
              <a:rPr lang="en-US" altLang="ko-KR" dirty="0"/>
              <a:t>”</a:t>
            </a:r>
          </a:p>
          <a:p>
            <a:pPr marL="0" indent="0" algn="ctr">
              <a:buNone/>
            </a:pPr>
            <a:endParaRPr lang="en-US" altLang="ko-KR" dirty="0"/>
          </a:p>
          <a:p>
            <a:pPr fontAlgn="base"/>
            <a:r>
              <a:rPr lang="ko-KR" altLang="en-US" dirty="0"/>
              <a:t>고가 콘솔 기기의 접근성 개선</a:t>
            </a:r>
            <a:endParaRPr lang="en-US" altLang="ko-KR" dirty="0"/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ko-KR" altLang="en-US" dirty="0"/>
              <a:t>누구나 부담 없이 최신 게임기를 경험할 수 있는 ‘합리적 대여 서비스’ 제공</a:t>
            </a:r>
          </a:p>
          <a:p>
            <a:pPr fontAlgn="base"/>
            <a:r>
              <a:rPr lang="ko-KR" altLang="en-US" dirty="0"/>
              <a:t>다양한 게임 문화의 확산</a:t>
            </a:r>
            <a:endParaRPr lang="en-US" altLang="ko-KR" dirty="0"/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ko-KR" altLang="en-US" dirty="0"/>
              <a:t>플랫폼에 구애 받지 않고 여러 콘솔을 체험하며</a:t>
            </a:r>
            <a:r>
              <a:rPr lang="en-US" altLang="ko-KR" dirty="0"/>
              <a:t>, </a:t>
            </a:r>
            <a:r>
              <a:rPr lang="ko-KR" altLang="en-US" dirty="0"/>
              <a:t>세대와 취향을 아우르는 게임 문화 형성</a:t>
            </a:r>
          </a:p>
          <a:p>
            <a:pPr fontAlgn="base"/>
            <a:r>
              <a:rPr lang="ko-KR" altLang="en-US" dirty="0"/>
              <a:t>신뢰와 편의를 기반으로 한 대여 경험 제공</a:t>
            </a:r>
            <a:endParaRPr lang="en-US" altLang="ko-KR" dirty="0"/>
          </a:p>
          <a:p>
            <a:pPr lvl="1" fontAlgn="base">
              <a:buFont typeface="Wingdings" panose="05000000000000000000" pitchFamily="2" charset="2"/>
              <a:buChar char="ü"/>
            </a:pPr>
            <a:r>
              <a:rPr lang="ko-KR" altLang="en-US" dirty="0"/>
              <a:t>안전한 거래</a:t>
            </a:r>
            <a:r>
              <a:rPr lang="en-US" altLang="ko-KR" dirty="0"/>
              <a:t>, </a:t>
            </a:r>
            <a:r>
              <a:rPr lang="ko-KR" altLang="en-US" dirty="0"/>
              <a:t>간편한 이용</a:t>
            </a:r>
            <a:r>
              <a:rPr lang="en-US" altLang="ko-KR" dirty="0"/>
              <a:t>, </a:t>
            </a:r>
            <a:r>
              <a:rPr lang="ko-KR" altLang="en-US" dirty="0"/>
              <a:t>스마트한 관리 시스템으로 사용자 만족도 향상</a:t>
            </a:r>
            <a:r>
              <a:rPr lang="en-US" altLang="ko-KR" dirty="0"/>
              <a:t>	</a:t>
            </a:r>
            <a:endParaRPr lang="ko-KR" altLang="en-US" dirty="0"/>
          </a:p>
          <a:p>
            <a:pPr algn="ctr"/>
            <a:endParaRPr lang="ko-KR" altLang="en-US" dirty="0"/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744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BC8DF00-C5FC-F8C9-35A3-58BB12506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53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게임기 대여 서비스의 관리자 기능 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A58E9904-A649-F3DD-DFC4-D982166AA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585786"/>
              </p:ext>
            </p:extLst>
          </p:nvPr>
        </p:nvGraphicFramePr>
        <p:xfrm>
          <a:off x="371475" y="1385888"/>
          <a:ext cx="11387144" cy="4534354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423393">
                  <a:extLst>
                    <a:ext uri="{9D8B030D-6E8A-4147-A177-3AD203B41FA5}">
                      <a16:colId xmlns:a16="http://schemas.microsoft.com/office/drawing/2014/main" val="2525914836"/>
                    </a:ext>
                  </a:extLst>
                </a:gridCol>
                <a:gridCol w="1423393">
                  <a:extLst>
                    <a:ext uri="{9D8B030D-6E8A-4147-A177-3AD203B41FA5}">
                      <a16:colId xmlns:a16="http://schemas.microsoft.com/office/drawing/2014/main" val="1502964205"/>
                    </a:ext>
                  </a:extLst>
                </a:gridCol>
                <a:gridCol w="1423393">
                  <a:extLst>
                    <a:ext uri="{9D8B030D-6E8A-4147-A177-3AD203B41FA5}">
                      <a16:colId xmlns:a16="http://schemas.microsoft.com/office/drawing/2014/main" val="2690774454"/>
                    </a:ext>
                  </a:extLst>
                </a:gridCol>
                <a:gridCol w="1423393">
                  <a:extLst>
                    <a:ext uri="{9D8B030D-6E8A-4147-A177-3AD203B41FA5}">
                      <a16:colId xmlns:a16="http://schemas.microsoft.com/office/drawing/2014/main" val="363032802"/>
                    </a:ext>
                  </a:extLst>
                </a:gridCol>
                <a:gridCol w="1423393">
                  <a:extLst>
                    <a:ext uri="{9D8B030D-6E8A-4147-A177-3AD203B41FA5}">
                      <a16:colId xmlns:a16="http://schemas.microsoft.com/office/drawing/2014/main" val="3956958416"/>
                    </a:ext>
                  </a:extLst>
                </a:gridCol>
                <a:gridCol w="1423393">
                  <a:extLst>
                    <a:ext uri="{9D8B030D-6E8A-4147-A177-3AD203B41FA5}">
                      <a16:colId xmlns:a16="http://schemas.microsoft.com/office/drawing/2014/main" val="643851790"/>
                    </a:ext>
                  </a:extLst>
                </a:gridCol>
                <a:gridCol w="1423393">
                  <a:extLst>
                    <a:ext uri="{9D8B030D-6E8A-4147-A177-3AD203B41FA5}">
                      <a16:colId xmlns:a16="http://schemas.microsoft.com/office/drawing/2014/main" val="2207863051"/>
                    </a:ext>
                  </a:extLst>
                </a:gridCol>
                <a:gridCol w="1423393">
                  <a:extLst>
                    <a:ext uri="{9D8B030D-6E8A-4147-A177-3AD203B41FA5}">
                      <a16:colId xmlns:a16="http://schemas.microsoft.com/office/drawing/2014/main" val="2759324327"/>
                    </a:ext>
                  </a:extLst>
                </a:gridCol>
              </a:tblGrid>
              <a:tr h="10596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관리자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회원가입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관리자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관리자 목록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대여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기기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목록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전체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기기 목록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신규</a:t>
                      </a: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기기 등록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864695"/>
                  </a:ext>
                </a:extLst>
              </a:tr>
              <a:tr h="4297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회원가입 양식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관리자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로그인 양식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최고 관리자 승인 대기 목록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대여기기 목록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검색 양식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전체 기기 목록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희망 기기 목록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 등록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9701832"/>
                  </a:ext>
                </a:extLst>
              </a:tr>
              <a:tr h="4297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회원가입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결과 출력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로그인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결과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최고 관리자 승인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반납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검색 결과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상세 정보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등록 양식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 목록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7171"/>
                  </a:ext>
                </a:extLst>
              </a:tr>
              <a:tr h="4297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최고 관리자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승인 대기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승인 결과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반납 처리 결과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상세 정보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등록 결과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비회원 목록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5189500"/>
                  </a:ext>
                </a:extLst>
              </a:tr>
              <a:tr h="4297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최고 관리자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승인 완료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관리부 직원 목록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휴면회원 목록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49860"/>
                  </a:ext>
                </a:extLst>
              </a:tr>
              <a:tr h="4297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로그인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전산실 직원 목록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373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069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30AFA-B5B0-3491-39EF-72C970227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F383202-6058-DB23-D848-E355185549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3377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C475-8A92-571B-EC1B-361A630CF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18E1243-11F1-85FE-0776-690B39DA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53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게임기 대여 서비스의 사용자 기능 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B4AEF177-EC53-7051-D9F6-AA2B569AF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299892"/>
              </p:ext>
            </p:extLst>
          </p:nvPr>
        </p:nvGraphicFramePr>
        <p:xfrm>
          <a:off x="371475" y="1348354"/>
          <a:ext cx="11515728" cy="406712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645104">
                  <a:extLst>
                    <a:ext uri="{9D8B030D-6E8A-4147-A177-3AD203B41FA5}">
                      <a16:colId xmlns:a16="http://schemas.microsoft.com/office/drawing/2014/main" val="2525914836"/>
                    </a:ext>
                  </a:extLst>
                </a:gridCol>
                <a:gridCol w="1645104">
                  <a:extLst>
                    <a:ext uri="{9D8B030D-6E8A-4147-A177-3AD203B41FA5}">
                      <a16:colId xmlns:a16="http://schemas.microsoft.com/office/drawing/2014/main" val="1502964205"/>
                    </a:ext>
                  </a:extLst>
                </a:gridCol>
                <a:gridCol w="1645104">
                  <a:extLst>
                    <a:ext uri="{9D8B030D-6E8A-4147-A177-3AD203B41FA5}">
                      <a16:colId xmlns:a16="http://schemas.microsoft.com/office/drawing/2014/main" val="2690774454"/>
                    </a:ext>
                  </a:extLst>
                </a:gridCol>
                <a:gridCol w="1645104">
                  <a:extLst>
                    <a:ext uri="{9D8B030D-6E8A-4147-A177-3AD203B41FA5}">
                      <a16:colId xmlns:a16="http://schemas.microsoft.com/office/drawing/2014/main" val="363032802"/>
                    </a:ext>
                  </a:extLst>
                </a:gridCol>
                <a:gridCol w="1645104">
                  <a:extLst>
                    <a:ext uri="{9D8B030D-6E8A-4147-A177-3AD203B41FA5}">
                      <a16:colId xmlns:a16="http://schemas.microsoft.com/office/drawing/2014/main" val="3956958416"/>
                    </a:ext>
                  </a:extLst>
                </a:gridCol>
                <a:gridCol w="1645104">
                  <a:extLst>
                    <a:ext uri="{9D8B030D-6E8A-4147-A177-3AD203B41FA5}">
                      <a16:colId xmlns:a16="http://schemas.microsoft.com/office/drawing/2014/main" val="643851790"/>
                    </a:ext>
                  </a:extLst>
                </a:gridCol>
                <a:gridCol w="1645104">
                  <a:extLst>
                    <a:ext uri="{9D8B030D-6E8A-4147-A177-3AD203B41FA5}">
                      <a16:colId xmlns:a16="http://schemas.microsoft.com/office/drawing/2014/main" val="2207863051"/>
                    </a:ext>
                  </a:extLst>
                </a:gridCol>
              </a:tblGrid>
              <a:tr h="1072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사용자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회원가입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사용자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대여 목록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조회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전체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대여 이력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희망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기기 요청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희망 기기</a:t>
                      </a: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요청 목록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864695"/>
                  </a:ext>
                </a:extLst>
              </a:tr>
              <a:tr h="4347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회원가입 양식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사용자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로그인 양식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검색 양식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대여 목록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전체 대여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이력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희망 기기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요청 양식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희망 기기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목록 조회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9701832"/>
                  </a:ext>
                </a:extLst>
              </a:tr>
              <a:tr h="4347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회원가입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결과 출력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로그인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결과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검색 결과 출력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요청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결과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7171"/>
                  </a:ext>
                </a:extLst>
              </a:tr>
              <a:tr h="43476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상세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정보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5189500"/>
                  </a:ext>
                </a:extLst>
              </a:tr>
              <a:tr h="434769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대여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949860"/>
                  </a:ext>
                </a:extLst>
              </a:tr>
              <a:tr h="43476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기기 대여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결과 출력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373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776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283</Words>
  <Application>Microsoft Office PowerPoint</Application>
  <PresentationFormat>와이드스크린</PresentationFormat>
  <Paragraphs>97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게임기 대여 서비스 개요</vt:lpstr>
      <vt:lpstr>게임기 대여 서비스의 관리자 기능 </vt:lpstr>
      <vt:lpstr>PowerPoint 프레젠테이션</vt:lpstr>
      <vt:lpstr>게임기 대여 서비스의 사용자 기능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pc07-00</dc:creator>
  <cp:lastModifiedBy>pc07-00</cp:lastModifiedBy>
  <cp:revision>10</cp:revision>
  <dcterms:created xsi:type="dcterms:W3CDTF">2025-11-11T01:53:57Z</dcterms:created>
  <dcterms:modified xsi:type="dcterms:W3CDTF">2025-11-14T03:03:24Z</dcterms:modified>
</cp:coreProperties>
</file>