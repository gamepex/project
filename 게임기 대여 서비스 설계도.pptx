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81152" autoAdjust="0"/>
  </p:normalViewPr>
  <p:slideViewPr>
    <p:cSldViewPr snapToGrid="0">
      <p:cViewPr varScale="1">
        <p:scale>
          <a:sx n="62" d="100"/>
          <a:sy n="62" d="100"/>
        </p:scale>
        <p:origin x="124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16C266-FE66-4646-9947-50AE4558E224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A265B5-C822-4236-AB05-46018D6D195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91329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교재 </a:t>
            </a:r>
            <a:r>
              <a:rPr lang="en-US" altLang="ko-KR" dirty="0"/>
              <a:t>316</a:t>
            </a:r>
            <a:r>
              <a:rPr lang="ko-KR" altLang="en-US" dirty="0"/>
              <a:t>쪽 그림 </a:t>
            </a:r>
            <a:r>
              <a:rPr lang="en-US" altLang="ko-KR" dirty="0"/>
              <a:t>9-1 </a:t>
            </a:r>
            <a:r>
              <a:rPr lang="ko-KR" altLang="en-US" dirty="0"/>
              <a:t>참고</a:t>
            </a:r>
            <a:r>
              <a:rPr lang="en-US" altLang="ko-KR" dirty="0"/>
              <a:t> // </a:t>
            </a:r>
            <a:r>
              <a:rPr lang="ko-KR" altLang="en-US" dirty="0"/>
              <a:t>희망 기기 입고 처리와 신규 기기 입고 처리가 중복 되는 기능이라고 생각되어 병합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/>
              <a:t>관리자 주요 </a:t>
            </a:r>
            <a:r>
              <a:rPr lang="ko-KR" altLang="en-US" dirty="0"/>
              <a:t>기능 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A265B5-C822-4236-AB05-46018D6D195E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499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E51B6-10B0-B881-BB21-147D3DAC4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9A7379A-E373-CD5E-603B-96C8B1BE6E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10E904B-7D5D-196D-7A7E-FD8235BB23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5B20D8-3D0B-7B66-F436-661F128803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A265B5-C822-4236-AB05-46018D6D195E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12426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AF711E-910C-BF66-6B25-290A50434B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BEFA8FF-EF96-670D-945E-52E7F8F78D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D9831C-806F-8302-9A01-2E43EBE06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181D0E-7B48-4566-A15F-1777BA2E8E43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13CEB9-97B5-4C5E-A2D8-7DB4046559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6299B58-526F-2727-6ABA-C7B4B4C7E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0F50A-ABF7-478E-B876-7B2344E601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58756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B96AF12-B085-DC30-053A-7D502CB85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2F038CA-54CE-AF9F-23BB-1D96BB6938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EABEB44-0B3F-0A1B-ABA5-9D7DB08C9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181D0E-7B48-4566-A15F-1777BA2E8E43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99B099-7AAF-EFF1-F5F8-B76CB1093F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AE372F-84DB-AB5F-89A5-571B66E53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0F50A-ABF7-478E-B876-7B2344E601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0485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D17429-F840-E26F-24C5-F6D0C9199E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3686B76-3877-DB45-B8FE-5D6EF87693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4011B47-E4D7-36F3-4B5C-FF6A56209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181D0E-7B48-4566-A15F-1777BA2E8E43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EDCAA94-43F6-7434-4014-4AB4ADF98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4082DD-5EDA-AFCC-7DF2-B4CE38830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0F50A-ABF7-478E-B876-7B2344E601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212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626D67-2AD6-8EA5-DB7F-C1B112CB6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3DE88F-F670-6E7B-F04B-5DAAE75B2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D109A95-2949-7823-A831-F207C654E1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326C13-BB28-0DA0-EC20-BE5B303D34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181D0E-7B48-4566-A15F-1777BA2E8E43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C15129E-B914-4DE6-7954-8A12428C20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1DC2BEC-8915-92D1-FCF5-60BCAB351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0F50A-ABF7-478E-B876-7B2344E601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0309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F74903-6F4A-532D-5C65-43C6505141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A85B812-76B4-9678-6947-BD2A6DA11E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53B004-61D3-1F6A-CBCD-6E647835B8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FBE7347-318D-4212-FDB0-5D184CD693E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FF0076A-37BB-846D-539E-57337E441A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38D648A-C45E-C101-775F-789DDACC0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181D0E-7B48-4566-A15F-1777BA2E8E43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E60C0AE-0F44-FB4A-0FE8-DE7E1CFE3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6AD92BD-D9DD-5921-3FC3-CAD7C061C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0F50A-ABF7-478E-B876-7B2344E601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55985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7485CF-AC98-9C3C-EE02-F695A8B4D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55D71A7-9003-8128-BA1C-8748C980B4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181D0E-7B48-4566-A15F-1777BA2E8E43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51CA957-8C1B-CBAC-08F1-8F57A7D805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65B2DA6-D1AD-395E-458D-36B82A309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0F50A-ABF7-478E-B876-7B2344E601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46560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CE0733F-BACE-35F3-D8BE-5FF1B8F00D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181D0E-7B48-4566-A15F-1777BA2E8E43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5A76FC0-02AC-11F2-8628-5C800FEC1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6F13C2-C249-7F19-6314-E3B0B4D87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0F50A-ABF7-478E-B876-7B2344E601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99887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D73E01-EF11-C1DF-BAF3-2D7EDC562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DEF176-9266-A756-6739-B95C0891E1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9BCDA4B-813F-EA8D-557C-A16DA72C04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9942140-15C0-4784-3FC2-70F33146BB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181D0E-7B48-4566-A15F-1777BA2E8E43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E9A94B-ABCB-0585-A649-7F4490841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257ECA0-0BDF-FE9D-1080-7F980FA22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0F50A-ABF7-478E-B876-7B2344E601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17674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A3F8E4-FB9A-66B7-9281-E6D2176AD6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4122CCD-DBEA-0652-542B-C4990A9670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46D5E2E-2276-0D83-9BE7-D32C6E4320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2145984-38EA-0E6A-0AFF-8887C2776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181D0E-7B48-4566-A15F-1777BA2E8E43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45D5345-17BF-BB7A-70F6-5C282B0361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7C3AE07-D728-735A-0CC9-0E04D5067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0F50A-ABF7-478E-B876-7B2344E601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78865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FF00E5-BEFD-5CD5-35BE-024DFC391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0D82D9C-8254-9330-51C5-3B9F912A80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3647984-3656-C22D-AEE3-FFB5E86FA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181D0E-7B48-4566-A15F-1777BA2E8E43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B366E1-000B-90CE-A0F3-05986AA7D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E206FF-25CA-70D6-D37F-C3F83C0FE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0F50A-ABF7-478E-B876-7B2344E601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882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489B32C-AA65-FA9F-A3F6-85AC0D4FB9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A1904D6-77DC-D8BC-4720-B90EA11196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36FFFA-F80B-3231-399F-01DA2C890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181D0E-7B48-4566-A15F-1777BA2E8E43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C7E822A-A016-050E-E64E-886F1DC3D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16B5FC6-E99C-998E-55A7-D58A5E62F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00F50A-ABF7-478E-B876-7B2344E601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29418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7286CAD-65EC-F629-0126-A520A7634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DB57AB3-4EC1-D54C-AABD-583425649B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706F88-F65B-E817-493B-81C0AACE42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181D0E-7B48-4566-A15F-1777BA2E8E43}" type="datetimeFigureOut">
              <a:rPr lang="ko-KR" altLang="en-US" smtClean="0"/>
              <a:t>2025-11-11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44B32E-E2AC-98A3-8D1A-13C1877C57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4D255-67D3-D38F-09D6-30E7A7718D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00F50A-ABF7-478E-B876-7B2344E601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37347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DBC8DF00-C5FC-F8C9-35A3-58BB12506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6538"/>
            <a:ext cx="10515600" cy="1325563"/>
          </a:xfrm>
        </p:spPr>
        <p:txBody>
          <a:bodyPr/>
          <a:lstStyle/>
          <a:p>
            <a:pPr algn="ctr"/>
            <a:r>
              <a:rPr lang="ko-KR" altLang="en-US" dirty="0"/>
              <a:t>게임기 대여 서비스의 관리자 기능 </a:t>
            </a:r>
          </a:p>
        </p:txBody>
      </p:sp>
      <p:graphicFrame>
        <p:nvGraphicFramePr>
          <p:cNvPr id="6" name="내용 개체 틀 5">
            <a:extLst>
              <a:ext uri="{FF2B5EF4-FFF2-40B4-BE49-F238E27FC236}">
                <a16:creationId xmlns:a16="http://schemas.microsoft.com/office/drawing/2014/main" id="{A58E9904-A649-F3DD-DFC4-D982166AA9F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4585786"/>
              </p:ext>
            </p:extLst>
          </p:nvPr>
        </p:nvGraphicFramePr>
        <p:xfrm>
          <a:off x="371475" y="1385888"/>
          <a:ext cx="11387144" cy="4534354"/>
        </p:xfrm>
        <a:graphic>
          <a:graphicData uri="http://schemas.openxmlformats.org/drawingml/2006/table">
            <a:tbl>
              <a:tblPr firstRow="1">
                <a:tableStyleId>{7DF18680-E054-41AD-8BC1-D1AEF772440D}</a:tableStyleId>
              </a:tblPr>
              <a:tblGrid>
                <a:gridCol w="1423393">
                  <a:extLst>
                    <a:ext uri="{9D8B030D-6E8A-4147-A177-3AD203B41FA5}">
                      <a16:colId xmlns:a16="http://schemas.microsoft.com/office/drawing/2014/main" val="2525914836"/>
                    </a:ext>
                  </a:extLst>
                </a:gridCol>
                <a:gridCol w="1423393">
                  <a:extLst>
                    <a:ext uri="{9D8B030D-6E8A-4147-A177-3AD203B41FA5}">
                      <a16:colId xmlns:a16="http://schemas.microsoft.com/office/drawing/2014/main" val="1502964205"/>
                    </a:ext>
                  </a:extLst>
                </a:gridCol>
                <a:gridCol w="1423393">
                  <a:extLst>
                    <a:ext uri="{9D8B030D-6E8A-4147-A177-3AD203B41FA5}">
                      <a16:colId xmlns:a16="http://schemas.microsoft.com/office/drawing/2014/main" val="2690774454"/>
                    </a:ext>
                  </a:extLst>
                </a:gridCol>
                <a:gridCol w="1423393">
                  <a:extLst>
                    <a:ext uri="{9D8B030D-6E8A-4147-A177-3AD203B41FA5}">
                      <a16:colId xmlns:a16="http://schemas.microsoft.com/office/drawing/2014/main" val="363032802"/>
                    </a:ext>
                  </a:extLst>
                </a:gridCol>
                <a:gridCol w="1423393">
                  <a:extLst>
                    <a:ext uri="{9D8B030D-6E8A-4147-A177-3AD203B41FA5}">
                      <a16:colId xmlns:a16="http://schemas.microsoft.com/office/drawing/2014/main" val="3956958416"/>
                    </a:ext>
                  </a:extLst>
                </a:gridCol>
                <a:gridCol w="1423393">
                  <a:extLst>
                    <a:ext uri="{9D8B030D-6E8A-4147-A177-3AD203B41FA5}">
                      <a16:colId xmlns:a16="http://schemas.microsoft.com/office/drawing/2014/main" val="643851790"/>
                    </a:ext>
                  </a:extLst>
                </a:gridCol>
                <a:gridCol w="1423393">
                  <a:extLst>
                    <a:ext uri="{9D8B030D-6E8A-4147-A177-3AD203B41FA5}">
                      <a16:colId xmlns:a16="http://schemas.microsoft.com/office/drawing/2014/main" val="2207863051"/>
                    </a:ext>
                  </a:extLst>
                </a:gridCol>
                <a:gridCol w="1423393">
                  <a:extLst>
                    <a:ext uri="{9D8B030D-6E8A-4147-A177-3AD203B41FA5}">
                      <a16:colId xmlns:a16="http://schemas.microsoft.com/office/drawing/2014/main" val="2759324327"/>
                    </a:ext>
                  </a:extLst>
                </a:gridCol>
              </a:tblGrid>
              <a:tr h="105963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관리자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회원가입</a:t>
                      </a:r>
                      <a:endParaRPr lang="en-US" altLang="ko-K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관리자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관리자 목록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대여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기기</a:t>
                      </a:r>
                      <a:r>
                        <a:rPr lang="en-US" altLang="ko-KR" dirty="0"/>
                        <a:t> </a:t>
                      </a:r>
                      <a:r>
                        <a:rPr lang="ko-KR" altLang="en-US" dirty="0"/>
                        <a:t>목록</a:t>
                      </a:r>
                      <a:endParaRPr lang="en-US" altLang="ko-K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기기 검색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전체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기기 목록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신규</a:t>
                      </a:r>
                      <a:endParaRPr lang="en-US" altLang="ko-KR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기기 등록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회원 관리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10864695"/>
                  </a:ext>
                </a:extLst>
              </a:tr>
              <a:tr h="4297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회원가입 양식</a:t>
                      </a:r>
                      <a:endParaRPr lang="en-US" altLang="ko-K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관리자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로그인 양식</a:t>
                      </a:r>
                      <a:endParaRPr lang="en-US" altLang="ko-K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최고 관리자 승인 대기 목록</a:t>
                      </a:r>
                      <a:endParaRPr lang="en-US" altLang="ko-K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대여기기 목록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기기 검색 양식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전체 기기 목록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희망 기기 목록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회원 등록</a:t>
                      </a:r>
                      <a:endParaRPr lang="en-US" altLang="ko-K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9701832"/>
                  </a:ext>
                </a:extLst>
              </a:tr>
              <a:tr h="4297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회원가입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결과 출력</a:t>
                      </a:r>
                      <a:endParaRPr lang="en-US" altLang="ko-K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로그인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결과 출력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최고 관리자 승인</a:t>
                      </a:r>
                      <a:endParaRPr lang="en-US" altLang="ko-K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기기 반납 처리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검색 결과 출력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기기 상세 정보 출력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기기 등록 양식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회원 목록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427171"/>
                  </a:ext>
                </a:extLst>
              </a:tr>
              <a:tr h="4297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최고 관리자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승인 대기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승인 결과 출력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반납 처리 결과 출력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기기 상세 정보 출력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기기 등록 결과 출력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비회원 목록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35189500"/>
                  </a:ext>
                </a:extLst>
              </a:tr>
              <a:tr h="4297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최고 관리자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승인 완료</a:t>
                      </a:r>
                      <a:endParaRPr lang="en-US" altLang="ko-K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관리부 직원 목록</a:t>
                      </a:r>
                      <a:endParaRPr lang="en-US" altLang="ko-K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휴면회원 목록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8949860"/>
                  </a:ext>
                </a:extLst>
              </a:tr>
              <a:tr h="4297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로그인 가능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전산실 직원 목록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203732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70690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DC475-8A92-571B-EC1B-361A630CF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118E1243-11F1-85FE-0776-690B39DA0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6538"/>
            <a:ext cx="10515600" cy="1325563"/>
          </a:xfrm>
        </p:spPr>
        <p:txBody>
          <a:bodyPr/>
          <a:lstStyle/>
          <a:p>
            <a:pPr algn="ctr"/>
            <a:r>
              <a:rPr lang="ko-KR" altLang="en-US" dirty="0"/>
              <a:t>게임기 대여 서비스의 사용자 기능 </a:t>
            </a:r>
          </a:p>
        </p:txBody>
      </p:sp>
      <p:graphicFrame>
        <p:nvGraphicFramePr>
          <p:cNvPr id="6" name="내용 개체 틀 5">
            <a:extLst>
              <a:ext uri="{FF2B5EF4-FFF2-40B4-BE49-F238E27FC236}">
                <a16:creationId xmlns:a16="http://schemas.microsoft.com/office/drawing/2014/main" id="{B4AEF177-EC53-7051-D9F6-AA2B569AF8E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08299892"/>
              </p:ext>
            </p:extLst>
          </p:nvPr>
        </p:nvGraphicFramePr>
        <p:xfrm>
          <a:off x="371475" y="1348354"/>
          <a:ext cx="11515728" cy="4067120"/>
        </p:xfrm>
        <a:graphic>
          <a:graphicData uri="http://schemas.openxmlformats.org/drawingml/2006/table">
            <a:tbl>
              <a:tblPr firstRow="1">
                <a:tableStyleId>{7DF18680-E054-41AD-8BC1-D1AEF772440D}</a:tableStyleId>
              </a:tblPr>
              <a:tblGrid>
                <a:gridCol w="1645104">
                  <a:extLst>
                    <a:ext uri="{9D8B030D-6E8A-4147-A177-3AD203B41FA5}">
                      <a16:colId xmlns:a16="http://schemas.microsoft.com/office/drawing/2014/main" val="2525914836"/>
                    </a:ext>
                  </a:extLst>
                </a:gridCol>
                <a:gridCol w="1645104">
                  <a:extLst>
                    <a:ext uri="{9D8B030D-6E8A-4147-A177-3AD203B41FA5}">
                      <a16:colId xmlns:a16="http://schemas.microsoft.com/office/drawing/2014/main" val="1502964205"/>
                    </a:ext>
                  </a:extLst>
                </a:gridCol>
                <a:gridCol w="1645104">
                  <a:extLst>
                    <a:ext uri="{9D8B030D-6E8A-4147-A177-3AD203B41FA5}">
                      <a16:colId xmlns:a16="http://schemas.microsoft.com/office/drawing/2014/main" val="2690774454"/>
                    </a:ext>
                  </a:extLst>
                </a:gridCol>
                <a:gridCol w="1645104">
                  <a:extLst>
                    <a:ext uri="{9D8B030D-6E8A-4147-A177-3AD203B41FA5}">
                      <a16:colId xmlns:a16="http://schemas.microsoft.com/office/drawing/2014/main" val="363032802"/>
                    </a:ext>
                  </a:extLst>
                </a:gridCol>
                <a:gridCol w="1645104">
                  <a:extLst>
                    <a:ext uri="{9D8B030D-6E8A-4147-A177-3AD203B41FA5}">
                      <a16:colId xmlns:a16="http://schemas.microsoft.com/office/drawing/2014/main" val="3956958416"/>
                    </a:ext>
                  </a:extLst>
                </a:gridCol>
                <a:gridCol w="1645104">
                  <a:extLst>
                    <a:ext uri="{9D8B030D-6E8A-4147-A177-3AD203B41FA5}">
                      <a16:colId xmlns:a16="http://schemas.microsoft.com/office/drawing/2014/main" val="643851790"/>
                    </a:ext>
                  </a:extLst>
                </a:gridCol>
                <a:gridCol w="1645104">
                  <a:extLst>
                    <a:ext uri="{9D8B030D-6E8A-4147-A177-3AD203B41FA5}">
                      <a16:colId xmlns:a16="http://schemas.microsoft.com/office/drawing/2014/main" val="2207863051"/>
                    </a:ext>
                  </a:extLst>
                </a:gridCol>
              </a:tblGrid>
              <a:tr h="10720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사용자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회원가입</a:t>
                      </a:r>
                      <a:endParaRPr lang="en-US" altLang="ko-K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사용자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로그인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기기 검색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대여 목록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조회</a:t>
                      </a:r>
                      <a:endParaRPr lang="en-US" altLang="ko-K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전체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대여 이력</a:t>
                      </a:r>
                      <a:endParaRPr lang="en-US" altLang="ko-K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희망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기기 요청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희망 기기</a:t>
                      </a:r>
                      <a:endParaRPr lang="en-US" altLang="ko-KR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dirty="0"/>
                        <a:t>요청 목록</a:t>
                      </a:r>
                      <a:endParaRPr lang="en-US" altLang="ko-K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10864695"/>
                  </a:ext>
                </a:extLst>
              </a:tr>
              <a:tr h="43476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회원가입 양식</a:t>
                      </a:r>
                      <a:endParaRPr lang="en-US" altLang="ko-K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사용자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로그인 양식</a:t>
                      </a:r>
                      <a:endParaRPr lang="en-US" altLang="ko-K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기기 검색 양식</a:t>
                      </a:r>
                      <a:endParaRPr lang="en-US" altLang="ko-K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대여 목록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전체 대여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이력 출력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희망 기기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요청 양식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희망 기기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목록 조회</a:t>
                      </a:r>
                      <a:endParaRPr lang="en-US" altLang="ko-KR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9701832"/>
                  </a:ext>
                </a:extLst>
              </a:tr>
              <a:tr h="43476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회원가입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결과 출력</a:t>
                      </a:r>
                      <a:endParaRPr lang="en-US" altLang="ko-K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로그인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결과 출력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검색 결과 출력</a:t>
                      </a:r>
                      <a:endParaRPr lang="en-US" altLang="ko-K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요청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결과 출력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427171"/>
                  </a:ext>
                </a:extLst>
              </a:tr>
              <a:tr h="434769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기기 상세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정보 출력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35189500"/>
                  </a:ext>
                </a:extLst>
              </a:tr>
              <a:tr h="434769">
                <a:tc>
                  <a:txBody>
                    <a:bodyPr/>
                    <a:lstStyle/>
                    <a:p>
                      <a:pPr algn="ctr" latinLnBrk="1"/>
                      <a:endParaRPr lang="en-US" altLang="ko-K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기기 대여</a:t>
                      </a:r>
                      <a:endParaRPr lang="en-US" altLang="ko-K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88949860"/>
                  </a:ext>
                </a:extLst>
              </a:tr>
              <a:tr h="434769"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기기 대여</a:t>
                      </a:r>
                      <a:endParaRPr lang="en-US" altLang="ko-KR" dirty="0"/>
                    </a:p>
                    <a:p>
                      <a:pPr algn="ctr" latinLnBrk="1"/>
                      <a:r>
                        <a:rPr lang="ko-KR" altLang="en-US" dirty="0"/>
                        <a:t>결과 출력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203732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87762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201</Words>
  <Application>Microsoft Office PowerPoint</Application>
  <PresentationFormat>와이드스크린</PresentationFormat>
  <Paragraphs>88</Paragraphs>
  <Slides>2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게임기 대여 서비스의 관리자 기능 </vt:lpstr>
      <vt:lpstr>게임기 대여 서비스의 사용자 기능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pc07-00</dc:creator>
  <cp:lastModifiedBy>pc07-00</cp:lastModifiedBy>
  <cp:revision>7</cp:revision>
  <dcterms:created xsi:type="dcterms:W3CDTF">2025-11-11T01:53:57Z</dcterms:created>
  <dcterms:modified xsi:type="dcterms:W3CDTF">2025-11-11T02:41:46Z</dcterms:modified>
</cp:coreProperties>
</file>